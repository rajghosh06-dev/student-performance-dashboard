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varScale="1">
        <p:scale>
          <a:sx n="71" d="100"/>
          <a:sy n="71" d="100"/>
        </p:scale>
        <p:origin x="388" y="44"/>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14 January 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11</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14 January 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1/14/2026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14/01/2026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rajghosh06-dev/student-performance-dashboard" TargetMode="External"/><Relationship Id="rId2" Type="http://schemas.openxmlformats.org/officeDocument/2006/relationships/hyperlink" Target="https://www.geeksforgeeks.org/power-bi/power-bi-tutorial/" TargetMode="Externa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2000" b="1" cap="all" dirty="0">
                <a:latin typeface="Aptos"/>
              </a:rPr>
              <a:t>Student Marks &amp; Result Analysis</a:t>
            </a:r>
            <a:endParaRPr lang="en-US" sz="5100" b="1" cap="all" dirty="0">
              <a:latin typeface="Aptos"/>
            </a:endParaRPr>
          </a:p>
          <a:p>
            <a:pPr algn="l"/>
            <a:endParaRPr lang="en-US" sz="5100" dirty="0">
              <a:latin typeface="Aptos"/>
            </a:endParaRPr>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6" y="3739889"/>
            <a:ext cx="4506791" cy="231128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a:t>
            </a:r>
            <a:r>
              <a:rPr lang="en-US" sz="1600" cap="all" dirty="0"/>
              <a:t> RISHIT GHOSH</a:t>
            </a:r>
          </a:p>
          <a:p>
            <a:pPr algn="l">
              <a:spcAft>
                <a:spcPts val="600"/>
              </a:spcAft>
            </a:pPr>
            <a:r>
              <a:rPr lang="en-US" sz="1600" b="1" cap="all" dirty="0"/>
              <a:t>College Name:</a:t>
            </a:r>
            <a:r>
              <a:rPr lang="en-US" sz="1600" cap="all" dirty="0"/>
              <a:t> GEETHANJALI COLLEGE OF ENGINEERING AND TECHNOLOGY</a:t>
            </a:r>
          </a:p>
          <a:p>
            <a:pPr algn="l">
              <a:spcAft>
                <a:spcPts val="600"/>
              </a:spcAft>
            </a:pPr>
            <a:r>
              <a:rPr lang="en-US" sz="1600" b="1" cap="all" dirty="0"/>
              <a:t>Department:</a:t>
            </a:r>
            <a:r>
              <a:rPr lang="en-US" sz="1600" cap="all" dirty="0"/>
              <a:t> CSE – AI&amp;ML</a:t>
            </a:r>
          </a:p>
          <a:p>
            <a:pPr algn="l">
              <a:spcAft>
                <a:spcPts val="600"/>
              </a:spcAft>
            </a:pPr>
            <a:r>
              <a:rPr lang="en-US" sz="1600" b="1" cap="all" dirty="0"/>
              <a:t>Email ID: </a:t>
            </a:r>
            <a:r>
              <a:rPr lang="en-US" sz="1600" dirty="0">
                <a:latin typeface="Calibri" panose="020F0502020204030204" pitchFamily="34" charset="0"/>
                <a:ea typeface="Calibri" panose="020F0502020204030204" pitchFamily="34" charset="0"/>
                <a:cs typeface="Calibri" panose="020F0502020204030204" pitchFamily="34" charset="0"/>
              </a:rPr>
              <a:t>rishitghosh06@gmail.com</a:t>
            </a:r>
            <a:endParaRPr lang="en-US" sz="1600" cap="all" dirty="0">
              <a:latin typeface="Calibri" panose="020F0502020204030204" pitchFamily="34" charset="0"/>
              <a:ea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rotWithShape="1">
          <a:blip r:embed="rId5">
            <a:extLst>
              <a:ext uri="{28A0092B-C50C-407E-A947-70E740481C1C}">
                <a14:useLocalDpi xmlns:a14="http://schemas.microsoft.com/office/drawing/2010/main" val="0"/>
              </a:ext>
            </a:extLst>
          </a:blip>
          <a:srcRect l="3105" t="3736" r="4094" b="4192"/>
          <a:stretch>
            <a:fillRect/>
          </a:stretch>
        </p:blipFill>
        <p:spPr>
          <a:xfrm>
            <a:off x="6951630" y="1147482"/>
            <a:ext cx="3470520" cy="4545104"/>
          </a:xfrm>
          <a:prstGeom prst="rect">
            <a:avLst/>
          </a:prstGeom>
          <a:ln>
            <a:solidFill>
              <a:schemeClr val="tx1"/>
            </a:solidFill>
          </a:ln>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r>
              <a:rPr lang="en-US" sz="2200" dirty="0">
                <a:latin typeface="Arial"/>
                <a:cs typeface="Arial"/>
              </a:rPr>
              <a:t>(Should not include solution)</a:t>
            </a: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r>
              <a:rPr lang="en-US" sz="2200" dirty="0">
                <a:latin typeface="Arial"/>
                <a:cs typeface="Arial"/>
              </a:rPr>
              <a:t>(Technology Used) </a:t>
            </a: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200" dirty="0">
                <a:latin typeface="Franklin Gothic Book"/>
              </a:rPr>
              <a:t>Educational institutions often struggle to analyze student performance across subjects, grades, and pass/fail outcomes in a consolidated and insightful manner. Manual tracking of academic metrics lacks interactivity and scalability, making it difficult to identify trends, top performers, or areas needing improvement.</a:t>
            </a:r>
            <a:endParaRPr lang="en-US" sz="22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5553694"/>
          </a:xfrm>
        </p:spPr>
        <p:txBody>
          <a:bodyPr vert="horz" lIns="91440" tIns="45720" rIns="91440" bIns="45720" rtlCol="0" anchor="t">
            <a:noAutofit/>
          </a:bodyPr>
          <a:lstStyle/>
          <a:p>
            <a:pPr marL="0" indent="0">
              <a:spcBef>
                <a:spcPct val="20000"/>
              </a:spcBef>
              <a:spcAft>
                <a:spcPts val="600"/>
              </a:spcAft>
              <a:buNone/>
            </a:pPr>
            <a:r>
              <a:rPr lang="en-US" sz="1200" dirty="0">
                <a:latin typeface="Calibri"/>
                <a:ea typeface="Calibri"/>
                <a:cs typeface="Calibri"/>
              </a:rPr>
              <a:t>This system is designed to transform raw academic data into clear, interactive insights. By using Power BI, educators and administrators can quickly identify trends, strengths, and areas needing improvement in student performance.</a:t>
            </a:r>
          </a:p>
          <a:p>
            <a:pPr>
              <a:spcBef>
                <a:spcPct val="20000"/>
              </a:spcBef>
              <a:spcAft>
                <a:spcPts val="600"/>
              </a:spcAft>
              <a:buFont typeface="Wingdings" panose="05000000000000000000" pitchFamily="2" charset="2"/>
              <a:buChar char="Ø"/>
            </a:pPr>
            <a:r>
              <a:rPr lang="en-US" sz="1200" dirty="0">
                <a:latin typeface="Calibri"/>
                <a:ea typeface="Calibri"/>
                <a:cs typeface="Calibri"/>
              </a:rPr>
              <a:t>Data Collection</a:t>
            </a:r>
          </a:p>
          <a:p>
            <a:pPr marL="358775">
              <a:spcBef>
                <a:spcPct val="20000"/>
              </a:spcBef>
              <a:spcAft>
                <a:spcPts val="600"/>
              </a:spcAft>
            </a:pPr>
            <a:r>
              <a:rPr lang="en-US" sz="1200" dirty="0">
                <a:latin typeface="Calibri"/>
                <a:ea typeface="Calibri"/>
                <a:cs typeface="Calibri"/>
              </a:rPr>
              <a:t>Core inputs include student marks, grades, subjects, and exam results.</a:t>
            </a:r>
          </a:p>
          <a:p>
            <a:pPr marL="358775">
              <a:spcBef>
                <a:spcPct val="20000"/>
              </a:spcBef>
              <a:spcAft>
                <a:spcPts val="600"/>
              </a:spcAft>
            </a:pPr>
            <a:r>
              <a:rPr lang="en-US" sz="1200" dirty="0">
                <a:latin typeface="Calibri"/>
                <a:ea typeface="Calibri"/>
                <a:cs typeface="Calibri"/>
              </a:rPr>
              <a:t>Optional extensions: attendance data, teacher assignments, or term-wise performance.</a:t>
            </a:r>
          </a:p>
          <a:p>
            <a:pPr>
              <a:spcBef>
                <a:spcPct val="20000"/>
              </a:spcBef>
              <a:spcAft>
                <a:spcPts val="600"/>
              </a:spcAft>
              <a:buFont typeface="Wingdings" panose="05000000000000000000" pitchFamily="2" charset="2"/>
              <a:buChar char="Ø"/>
            </a:pPr>
            <a:r>
              <a:rPr lang="en-US" sz="1200" dirty="0">
                <a:latin typeface="Calibri"/>
                <a:ea typeface="Calibri"/>
                <a:cs typeface="Calibri"/>
              </a:rPr>
              <a:t>Data Preprocessing</a:t>
            </a:r>
          </a:p>
          <a:p>
            <a:pPr marL="358775">
              <a:spcBef>
                <a:spcPct val="20000"/>
              </a:spcBef>
              <a:spcAft>
                <a:spcPts val="600"/>
              </a:spcAft>
            </a:pPr>
            <a:r>
              <a:rPr lang="en-US" sz="1200" dirty="0">
                <a:latin typeface="Calibri"/>
                <a:ea typeface="Calibri"/>
                <a:cs typeface="Calibri"/>
              </a:rPr>
              <a:t>Raw data is cleaned to remove duplicates, handle missing values, and standardize formats.  </a:t>
            </a:r>
          </a:p>
          <a:p>
            <a:pPr marL="358775">
              <a:spcBef>
                <a:spcPct val="20000"/>
              </a:spcBef>
              <a:spcAft>
                <a:spcPts val="600"/>
              </a:spcAft>
            </a:pPr>
            <a:r>
              <a:rPr lang="en-US" sz="1200" dirty="0">
                <a:latin typeface="Calibri"/>
                <a:ea typeface="Calibri"/>
                <a:cs typeface="Calibri"/>
              </a:rPr>
              <a:t>Structured into an Excel dataset with clear relationships (students to subjects to results).  </a:t>
            </a:r>
          </a:p>
          <a:p>
            <a:pPr marL="358775">
              <a:spcBef>
                <a:spcPct val="20000"/>
              </a:spcBef>
              <a:spcAft>
                <a:spcPts val="600"/>
              </a:spcAft>
            </a:pPr>
            <a:r>
              <a:rPr lang="en-US" sz="1200" dirty="0">
                <a:latin typeface="Calibri"/>
                <a:ea typeface="Calibri"/>
                <a:cs typeface="Calibri"/>
              </a:rPr>
              <a:t>Derived fields such as pass percentage, average marks, and top scorer identification are calculated for deeper analysis.</a:t>
            </a:r>
          </a:p>
          <a:p>
            <a:pPr>
              <a:spcBef>
                <a:spcPct val="20000"/>
              </a:spcBef>
              <a:spcAft>
                <a:spcPts val="600"/>
              </a:spcAft>
              <a:buFont typeface="Wingdings" panose="05000000000000000000" pitchFamily="2" charset="2"/>
              <a:buChar char="Ø"/>
            </a:pPr>
            <a:r>
              <a:rPr lang="en-US" sz="1200" dirty="0">
                <a:latin typeface="Calibri"/>
                <a:ea typeface="Calibri"/>
                <a:cs typeface="Calibri"/>
              </a:rPr>
              <a:t>Visualization</a:t>
            </a:r>
          </a:p>
          <a:p>
            <a:pPr marL="358775">
              <a:spcBef>
                <a:spcPct val="20000"/>
              </a:spcBef>
              <a:spcAft>
                <a:spcPts val="600"/>
              </a:spcAft>
            </a:pPr>
            <a:r>
              <a:rPr lang="en-US" sz="1200" dirty="0">
                <a:latin typeface="Calibri"/>
                <a:ea typeface="Calibri"/>
                <a:cs typeface="Calibri"/>
              </a:rPr>
              <a:t>Interactive Dashboard with:</a:t>
            </a:r>
          </a:p>
          <a:p>
            <a:pPr marL="538163">
              <a:spcBef>
                <a:spcPct val="20000"/>
              </a:spcBef>
              <a:spcAft>
                <a:spcPts val="600"/>
              </a:spcAft>
              <a:buFont typeface="Courier New" panose="02070309020205020404" pitchFamily="49" charset="0"/>
              <a:buChar char="o"/>
            </a:pPr>
            <a:r>
              <a:rPr lang="en-US" sz="1200" dirty="0">
                <a:latin typeface="Calibri"/>
                <a:ea typeface="Calibri"/>
                <a:cs typeface="Calibri"/>
              </a:rPr>
              <a:t>Slicers for filtering by class, subject, exam type, or academic year.  </a:t>
            </a:r>
          </a:p>
          <a:p>
            <a:pPr marL="538163">
              <a:spcBef>
                <a:spcPct val="20000"/>
              </a:spcBef>
              <a:spcAft>
                <a:spcPts val="600"/>
              </a:spcAft>
              <a:buFont typeface="Courier New" panose="02070309020205020404" pitchFamily="49" charset="0"/>
              <a:buChar char="o"/>
            </a:pPr>
            <a:r>
              <a:rPr lang="en-US" sz="1200" dirty="0">
                <a:latin typeface="Calibri"/>
                <a:ea typeface="Calibri"/>
                <a:cs typeface="Calibri"/>
              </a:rPr>
              <a:t>Charts (bar, line, pie) to show subject-wise averages, grade distributions, and performance trends.  </a:t>
            </a:r>
          </a:p>
          <a:p>
            <a:pPr>
              <a:spcBef>
                <a:spcPct val="20000"/>
              </a:spcBef>
              <a:spcAft>
                <a:spcPts val="600"/>
              </a:spcAft>
              <a:buFont typeface="Wingdings" panose="05000000000000000000" pitchFamily="2" charset="2"/>
              <a:buChar char="Ø"/>
            </a:pPr>
            <a:r>
              <a:rPr lang="en-US" sz="1200" dirty="0">
                <a:latin typeface="Calibri"/>
                <a:ea typeface="Calibri"/>
                <a:cs typeface="Calibri"/>
              </a:rPr>
              <a:t>Deployment</a:t>
            </a:r>
          </a:p>
          <a:p>
            <a:pPr marL="358775">
              <a:spcBef>
                <a:spcPct val="20000"/>
              </a:spcBef>
              <a:spcAft>
                <a:spcPts val="600"/>
              </a:spcAft>
            </a:pPr>
            <a:r>
              <a:rPr lang="en-US" sz="1200" dirty="0">
                <a:latin typeface="Calibri"/>
                <a:ea typeface="Calibri"/>
                <a:cs typeface="Calibri"/>
              </a:rPr>
              <a:t>Reports can be exported to PDF or Excel for sharing with teachers, parents, or school boards.  </a:t>
            </a:r>
          </a:p>
          <a:p>
            <a:pPr marL="358775">
              <a:spcBef>
                <a:spcPct val="20000"/>
              </a:spcBef>
              <a:spcAft>
                <a:spcPts val="600"/>
              </a:spcAft>
            </a:pPr>
            <a:r>
              <a:rPr lang="en-US" sz="1200" dirty="0">
                <a:latin typeface="Calibri"/>
                <a:ea typeface="Calibri"/>
                <a:cs typeface="Calibri"/>
              </a:rPr>
              <a:t>Future scalability: integration with Power BI Service for cloud access, role-based sharing, and mobile viewing.</a:t>
            </a:r>
          </a:p>
          <a:p>
            <a:pPr>
              <a:spcBef>
                <a:spcPct val="20000"/>
              </a:spcBef>
              <a:spcAft>
                <a:spcPts val="600"/>
              </a:spcAft>
              <a:buFont typeface="Wingdings" panose="05000000000000000000" pitchFamily="2" charset="2"/>
              <a:buChar char="Ø"/>
            </a:pPr>
            <a:r>
              <a:rPr lang="en-US" sz="1200" dirty="0">
                <a:latin typeface="Calibri"/>
                <a:ea typeface="Calibri"/>
                <a:cs typeface="Calibri"/>
              </a:rPr>
              <a:t>Benefits</a:t>
            </a:r>
          </a:p>
          <a:p>
            <a:pPr marL="358775">
              <a:spcBef>
                <a:spcPct val="20000"/>
              </a:spcBef>
              <a:spcAft>
                <a:spcPts val="600"/>
              </a:spcAft>
            </a:pPr>
            <a:r>
              <a:rPr lang="en-US" sz="1200" dirty="0">
                <a:latin typeface="Calibri"/>
                <a:ea typeface="Calibri"/>
                <a:cs typeface="Calibri"/>
              </a:rPr>
              <a:t>Teachers: Identify weak subjects and struggling students quickly. </a:t>
            </a:r>
          </a:p>
          <a:p>
            <a:pPr marL="358775">
              <a:spcBef>
                <a:spcPct val="20000"/>
              </a:spcBef>
              <a:spcAft>
                <a:spcPts val="600"/>
              </a:spcAft>
            </a:pPr>
            <a:r>
              <a:rPr lang="en-US" sz="1200" dirty="0">
                <a:latin typeface="Calibri"/>
                <a:ea typeface="Calibri"/>
                <a:cs typeface="Calibri"/>
              </a:rPr>
              <a:t>Parents/Students: Transparent reporting of progress.  </a:t>
            </a:r>
          </a:p>
          <a:p>
            <a:pPr marL="358775">
              <a:spcBef>
                <a:spcPct val="20000"/>
              </a:spcBef>
              <a:spcAft>
                <a:spcPts val="600"/>
              </a:spcAft>
            </a:pPr>
            <a:r>
              <a:rPr lang="en-US" sz="1200" dirty="0">
                <a:latin typeface="Calibri"/>
                <a:ea typeface="Calibri"/>
                <a:cs typeface="Calibri"/>
              </a:rPr>
              <a:t>Institution: Data-driven decisions to improve teaching strategies and curriculum design.</a:t>
            </a: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a:bodyPr>
          <a:lstStyle/>
          <a:p>
            <a:pPr>
              <a:spcBef>
                <a:spcPct val="20000"/>
              </a:spcBef>
              <a:spcAft>
                <a:spcPts val="600"/>
              </a:spcAft>
            </a:pPr>
            <a:r>
              <a:rPr lang="en-US" sz="2200" b="1" dirty="0">
                <a:latin typeface="Franklin Gothic Book"/>
              </a:rPr>
              <a:t>System Requirements: </a:t>
            </a:r>
            <a:r>
              <a:rPr lang="en-US" sz="2200" dirty="0">
                <a:latin typeface="Franklin Gothic Book"/>
              </a:rPr>
              <a:t>Power BI Desktop, Excel</a:t>
            </a:r>
          </a:p>
          <a:p>
            <a:pPr>
              <a:spcBef>
                <a:spcPct val="20000"/>
              </a:spcBef>
              <a:spcAft>
                <a:spcPts val="600"/>
              </a:spcAft>
            </a:pPr>
            <a:r>
              <a:rPr lang="en-US" sz="2200" b="1" dirty="0">
                <a:latin typeface="Franklin Gothic Book"/>
              </a:rPr>
              <a:t>Libraries/Tools Used:</a:t>
            </a:r>
          </a:p>
          <a:p>
            <a:pPr marL="358775">
              <a:spcBef>
                <a:spcPct val="20000"/>
              </a:spcBef>
              <a:spcAft>
                <a:spcPts val="600"/>
              </a:spcAft>
              <a:buFont typeface="Courier New" panose="02070309020205020404" pitchFamily="49" charset="0"/>
              <a:buChar char="o"/>
            </a:pPr>
            <a:r>
              <a:rPr lang="en-US" sz="2200" b="1" dirty="0">
                <a:latin typeface="Franklin Gothic Book"/>
              </a:rPr>
              <a:t>Power BI visuals: </a:t>
            </a:r>
            <a:r>
              <a:rPr lang="en-US" sz="2200" dirty="0">
                <a:latin typeface="Franklin Gothic Book"/>
              </a:rPr>
              <a:t>Card, Pie chart, Bar chart, Table, Slicer.</a:t>
            </a:r>
          </a:p>
          <a:p>
            <a:pPr marL="358775">
              <a:spcBef>
                <a:spcPct val="20000"/>
              </a:spcBef>
              <a:spcAft>
                <a:spcPts val="600"/>
              </a:spcAft>
              <a:buFont typeface="Courier New" panose="02070309020205020404" pitchFamily="49" charset="0"/>
              <a:buChar char="o"/>
            </a:pPr>
            <a:r>
              <a:rPr lang="en-US" sz="2200" b="1" dirty="0">
                <a:latin typeface="Franklin Gothic Book"/>
              </a:rPr>
              <a:t>DAX measures for </a:t>
            </a:r>
            <a:r>
              <a:rPr lang="en-US" sz="2200" dirty="0">
                <a:latin typeface="Franklin Gothic Book"/>
              </a:rPr>
              <a:t>average, top scorer, and conditional formatting.</a:t>
            </a:r>
          </a:p>
          <a:p>
            <a:pPr marL="358775">
              <a:spcBef>
                <a:spcPct val="20000"/>
              </a:spcBef>
              <a:spcAft>
                <a:spcPts val="600"/>
              </a:spcAft>
              <a:buFont typeface="Courier New" panose="02070309020205020404" pitchFamily="49" charset="0"/>
              <a:buChar char="o"/>
            </a:pPr>
            <a:r>
              <a:rPr lang="en-US" sz="2200" b="1" dirty="0">
                <a:latin typeface="Franklin Gothic Book"/>
              </a:rPr>
              <a:t>Excel for </a:t>
            </a:r>
            <a:r>
              <a:rPr lang="en-US" sz="2200" dirty="0">
                <a:latin typeface="Franklin Gothic Book"/>
              </a:rPr>
              <a:t>data preparation.</a:t>
            </a:r>
            <a:endParaRPr lang="en-GB" sz="2200"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rmAutofit/>
          </a:bodyPr>
          <a:lstStyle/>
          <a:p>
            <a:pPr>
              <a:buNone/>
            </a:pPr>
            <a:r>
              <a:rPr lang="en-US" sz="1600" b="1" dirty="0">
                <a:effectLst/>
              </a:rPr>
              <a:t>Logic:</a:t>
            </a:r>
          </a:p>
          <a:p>
            <a:pPr>
              <a:buFont typeface="Arial" panose="020B0604020202020204" pitchFamily="34" charset="0"/>
              <a:buChar char="•"/>
            </a:pPr>
            <a:r>
              <a:rPr lang="en-US" sz="1600" b="1" dirty="0">
                <a:effectLst/>
              </a:rPr>
              <a:t>Top Scorer Identification</a:t>
            </a:r>
            <a:r>
              <a:rPr lang="en-US" sz="1600" dirty="0">
                <a:effectLst/>
              </a:rPr>
              <a:t>: DAX formula to extract max marks and corresponding student name</a:t>
            </a:r>
          </a:p>
          <a:p>
            <a:pPr>
              <a:buFont typeface="Arial" panose="020B0604020202020204" pitchFamily="34" charset="0"/>
              <a:buChar char="•"/>
            </a:pPr>
            <a:r>
              <a:rPr lang="en-US" sz="1600" b="1" dirty="0">
                <a:effectLst/>
              </a:rPr>
              <a:t>Pass Percentage</a:t>
            </a:r>
            <a:r>
              <a:rPr lang="en-US" sz="1600" dirty="0">
                <a:effectLst/>
              </a:rPr>
              <a:t>: Calculated using DAX based on Result column</a:t>
            </a:r>
          </a:p>
          <a:p>
            <a:pPr>
              <a:buFont typeface="Arial" panose="020B0604020202020204" pitchFamily="34" charset="0"/>
              <a:buChar char="•"/>
            </a:pPr>
            <a:r>
              <a:rPr lang="en-US" sz="1600" b="1" dirty="0">
                <a:effectLst/>
              </a:rPr>
              <a:t>Subject-wise Average</a:t>
            </a:r>
            <a:r>
              <a:rPr lang="en-US" sz="1600" dirty="0">
                <a:effectLst/>
              </a:rPr>
              <a:t>: Aggregated using bar chart visual</a:t>
            </a:r>
          </a:p>
          <a:p>
            <a:pPr>
              <a:buFont typeface="Arial" panose="020B0604020202020204" pitchFamily="34" charset="0"/>
              <a:buChar char="•"/>
            </a:pPr>
            <a:r>
              <a:rPr lang="en-US" sz="1600" b="1" dirty="0">
                <a:effectLst/>
              </a:rPr>
              <a:t>Conditional Formatting</a:t>
            </a:r>
            <a:r>
              <a:rPr lang="en-US" sz="1600" dirty="0">
                <a:effectLst/>
              </a:rPr>
              <a:t>: Applied to Result and Grade columns for visual clarity</a:t>
            </a:r>
          </a:p>
          <a:p>
            <a:pPr>
              <a:buNone/>
            </a:pPr>
            <a:r>
              <a:rPr lang="en-US" sz="1600" b="1" dirty="0">
                <a:effectLst/>
              </a:rPr>
              <a:t>Deployment:</a:t>
            </a:r>
          </a:p>
          <a:p>
            <a:pPr>
              <a:buFont typeface="Arial" panose="020B0604020202020204" pitchFamily="34" charset="0"/>
              <a:buChar char="•"/>
            </a:pPr>
            <a:r>
              <a:rPr lang="en-US" sz="1600" dirty="0">
                <a:effectLst/>
              </a:rPr>
              <a:t>Dashboard created in Power BI Desktop</a:t>
            </a:r>
          </a:p>
          <a:p>
            <a:pPr>
              <a:buFont typeface="Arial" panose="020B0604020202020204" pitchFamily="34" charset="0"/>
              <a:buChar char="•"/>
            </a:pPr>
            <a:r>
              <a:rPr lang="en-US" sz="1600" dirty="0">
                <a:effectLst/>
              </a:rPr>
              <a:t>Exported as screenshot and </a:t>
            </a:r>
            <a:r>
              <a:rPr lang="en-US" sz="1600" i="1" dirty="0">
                <a:effectLst/>
              </a:rPr>
              <a:t>.</a:t>
            </a:r>
            <a:r>
              <a:rPr lang="en-US" sz="1600" i="1" dirty="0" err="1">
                <a:effectLst/>
              </a:rPr>
              <a:t>pbix</a:t>
            </a:r>
            <a:r>
              <a:rPr lang="en-US" sz="1600" dirty="0">
                <a:effectLst/>
              </a:rPr>
              <a:t> file for submission</a:t>
            </a:r>
          </a:p>
          <a:p>
            <a:pPr>
              <a:buFont typeface="Arial" panose="020B0604020202020204" pitchFamily="34" charset="0"/>
              <a:buChar char="•"/>
            </a:pPr>
            <a:r>
              <a:rPr lang="en-US" sz="1600" dirty="0">
                <a:effectLst/>
              </a:rPr>
              <a:t>Interactive slicers allow filtering by Subject, Grade, and Result</a:t>
            </a: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723620" y="4536141"/>
            <a:ext cx="10515600" cy="1900557"/>
          </a:xfrm>
        </p:spPr>
        <p:txBody>
          <a:bodyPr vert="horz" lIns="91440" tIns="45720" rIns="91440" bIns="45720" rtlCol="0">
            <a:normAutofit fontScale="77500" lnSpcReduction="20000"/>
          </a:bodyPr>
          <a:lstStyle/>
          <a:p>
            <a:pPr marL="0" indent="0">
              <a:buNone/>
            </a:pPr>
            <a:r>
              <a:rPr lang="en-US" sz="2200" b="1" dirty="0"/>
              <a:t>Key Highlights:</a:t>
            </a:r>
          </a:p>
          <a:p>
            <a:r>
              <a:rPr lang="en-US" sz="2200" dirty="0"/>
              <a:t>Total Students: 50Average</a:t>
            </a:r>
          </a:p>
          <a:p>
            <a:r>
              <a:rPr lang="en-US" sz="2200" dirty="0"/>
              <a:t>Marks: 67.38</a:t>
            </a:r>
          </a:p>
          <a:p>
            <a:r>
              <a:rPr lang="en-US" sz="2200" dirty="0"/>
              <a:t>Pass Percentage: 80%</a:t>
            </a:r>
          </a:p>
          <a:p>
            <a:r>
              <a:rPr lang="en-US" sz="2200" dirty="0"/>
              <a:t>Top Scorer: Harsha (95 marks)</a:t>
            </a:r>
          </a:p>
          <a:p>
            <a:r>
              <a:rPr lang="en-US" sz="2200" dirty="0"/>
              <a:t>Subject-wise insights and dynamic filtering</a:t>
            </a:r>
          </a:p>
        </p:txBody>
      </p:sp>
      <p:pic>
        <p:nvPicPr>
          <p:cNvPr id="5" name="Picture 4">
            <a:extLst>
              <a:ext uri="{FF2B5EF4-FFF2-40B4-BE49-F238E27FC236}">
                <a16:creationId xmlns:a16="http://schemas.microsoft.com/office/drawing/2014/main" id="{0D7BA8BC-73DE-C953-9F43-7C83D2BF7227}"/>
              </a:ext>
            </a:extLst>
          </p:cNvPr>
          <p:cNvPicPr>
            <a:picLocks noChangeAspect="1"/>
          </p:cNvPicPr>
          <p:nvPr/>
        </p:nvPicPr>
        <p:blipFill>
          <a:blip r:embed="rId2"/>
          <a:stretch>
            <a:fillRect/>
          </a:stretch>
        </p:blipFill>
        <p:spPr>
          <a:xfrm>
            <a:off x="2976281" y="1178463"/>
            <a:ext cx="5419759" cy="3133560"/>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sz="2200" dirty="0">
                <a:latin typeface="Franklin Gothic Book"/>
              </a:rPr>
              <a:t>The dashboard provides a clear and interactive view of student performance, making complex academic data easy to understand. It allows educators to simplify analysis by presenting marks, grades, and results in a structured and visually appealing format. Key features include the ability to highlight top performers, track overall pass percentages, and monitor average marks across different subjects. With subject-wise insights, teachers can quickly identify areas where students excel and where additional support may be needed. The interactive filters and charts enable dynamic exploration, ensuring that performance trends can be analyzed at both individual and class levels.</a:t>
            </a:r>
          </a:p>
          <a:p>
            <a:pPr marL="0" indent="0">
              <a:buNone/>
            </a:pPr>
            <a:r>
              <a:rPr lang="en-US" sz="2200" dirty="0">
                <a:latin typeface="Franklin Gothic Book"/>
              </a:rPr>
              <a:t>By leveraging Power BI, the system offers scalability, professional presentation, and export options, making it suitable for both local use and potential institutional deployment. Ultimately, it serves as a powerful tool for data-driven decision-making in education.</a:t>
            </a:r>
            <a:endParaRPr lang="en-US" sz="2200" dirty="0"/>
          </a:p>
        </p:txBody>
      </p:sp>
    </p:spTree>
    <p:extLst>
      <p:ext uri="{BB962C8B-B14F-4D97-AF65-F5344CB8AC3E}">
        <p14:creationId xmlns:p14="http://schemas.microsoft.com/office/powerpoint/2010/main" val="2245309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692954"/>
          </a:xfrm>
        </p:spPr>
        <p:txBody>
          <a:bodyPr vert="horz" lIns="91440" tIns="45720" rIns="91440" bIns="45720" rtlCol="0">
            <a:normAutofit fontScale="85000" lnSpcReduction="20000"/>
          </a:bodyPr>
          <a:lstStyle/>
          <a:p>
            <a:pPr>
              <a:spcBef>
                <a:spcPct val="20000"/>
              </a:spcBef>
              <a:spcAft>
                <a:spcPts val="600"/>
              </a:spcAft>
            </a:pPr>
            <a:r>
              <a:rPr lang="en-US" sz="2200" dirty="0">
                <a:latin typeface="Franklin Gothic Book"/>
              </a:rPr>
              <a:t>Add Semester-wise and Department-level Filters:</a:t>
            </a:r>
          </a:p>
          <a:p>
            <a:pPr marL="358775" indent="0" algn="just">
              <a:spcBef>
                <a:spcPct val="20000"/>
              </a:spcBef>
              <a:spcAft>
                <a:spcPts val="600"/>
              </a:spcAft>
              <a:buNone/>
            </a:pPr>
            <a:r>
              <a:rPr lang="en-US" sz="2200" dirty="0">
                <a:latin typeface="Franklin Gothic Book"/>
              </a:rPr>
              <a:t>Enhance the dashboard with advanced filtering options that allow users to view performance data by semester, department, or specialization. This will provide more granular insights and help identify trends across different academic units.</a:t>
            </a:r>
          </a:p>
          <a:p>
            <a:pPr>
              <a:spcBef>
                <a:spcPct val="20000"/>
              </a:spcBef>
              <a:spcAft>
                <a:spcPts val="600"/>
              </a:spcAft>
            </a:pPr>
            <a:r>
              <a:rPr lang="en-US" sz="2200" dirty="0">
                <a:latin typeface="Franklin Gothic Book"/>
              </a:rPr>
              <a:t>Integrate Real-time Data from Academic Portals:</a:t>
            </a:r>
          </a:p>
          <a:p>
            <a:pPr marL="358775" indent="0" algn="just">
              <a:spcBef>
                <a:spcPct val="20000"/>
              </a:spcBef>
              <a:spcAft>
                <a:spcPts val="600"/>
              </a:spcAft>
              <a:buNone/>
            </a:pPr>
            <a:r>
              <a:rPr lang="en-US" sz="2200" dirty="0">
                <a:latin typeface="Franklin Gothic Book"/>
              </a:rPr>
              <a:t>Connect the dashboard directly to institutional academic portals or ERP systems. Real-time integration ensures that performance metrics are always up to date, reducing manual data entry and improving accuracy.</a:t>
            </a:r>
          </a:p>
          <a:p>
            <a:pPr>
              <a:spcBef>
                <a:spcPct val="20000"/>
              </a:spcBef>
              <a:spcAft>
                <a:spcPts val="600"/>
              </a:spcAft>
            </a:pPr>
            <a:r>
              <a:rPr lang="en-US" sz="2200" dirty="0">
                <a:latin typeface="Franklin Gothic Book"/>
              </a:rPr>
              <a:t>Expand to Include Attendance and Internal Assessments:</a:t>
            </a:r>
          </a:p>
          <a:p>
            <a:pPr marL="358775" indent="0" algn="just">
              <a:spcBef>
                <a:spcPct val="20000"/>
              </a:spcBef>
              <a:spcAft>
                <a:spcPts val="600"/>
              </a:spcAft>
              <a:buNone/>
            </a:pPr>
            <a:r>
              <a:rPr lang="en-US" sz="2200" dirty="0">
                <a:latin typeface="Franklin Gothic Book"/>
              </a:rPr>
              <a:t>Incorporate additional datasets such as attendance records, class participation, and internal assessment scores. This will give a more holistic view of student performance beyond exam results.</a:t>
            </a:r>
          </a:p>
          <a:p>
            <a:pPr>
              <a:spcBef>
                <a:spcPct val="20000"/>
              </a:spcBef>
              <a:spcAft>
                <a:spcPts val="600"/>
              </a:spcAft>
            </a:pPr>
            <a:r>
              <a:rPr lang="en-US" sz="2200" dirty="0">
                <a:latin typeface="Franklin Gothic Book"/>
              </a:rPr>
              <a:t>Introduce Predictive Analytics:</a:t>
            </a:r>
          </a:p>
          <a:p>
            <a:pPr marL="358775" indent="0" algn="just">
              <a:spcBef>
                <a:spcPct val="20000"/>
              </a:spcBef>
              <a:spcAft>
                <a:spcPts val="600"/>
              </a:spcAft>
              <a:buNone/>
            </a:pPr>
            <a:r>
              <a:rPr lang="en-US" sz="2200" dirty="0">
                <a:latin typeface="Franklin Gothic Book"/>
              </a:rPr>
              <a:t>Use machine learning models within Power BI to forecast student outcomes, identify at-risk students, and suggest targeted interventions. Predictive insights can help educators take proactive measures to improve academic success.</a:t>
            </a:r>
            <a:endParaRPr lang="en-GB" sz="2200" dirty="0"/>
          </a:p>
        </p:txBody>
      </p:sp>
    </p:spTree>
    <p:extLst>
      <p:ext uri="{BB962C8B-B14F-4D97-AF65-F5344CB8AC3E}">
        <p14:creationId xmlns:p14="http://schemas.microsoft.com/office/powerpoint/2010/main" val="3744199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1138287"/>
          </a:xfrm>
        </p:spPr>
        <p:txBody>
          <a:bodyPr vert="horz" lIns="91440" tIns="45720" rIns="91440" bIns="45720" rtlCol="0" anchor="t">
            <a:normAutofit fontScale="55000" lnSpcReduction="20000"/>
          </a:bodyPr>
          <a:lstStyle/>
          <a:p>
            <a:pPr marL="0" indent="0">
              <a:buNone/>
            </a:pPr>
            <a:r>
              <a:rPr lang="en-IN" u="sng" dirty="0"/>
              <a:t>https://learn.microsoft.com/en-us/power-bi/</a:t>
            </a:r>
            <a:endParaRPr lang="en-IN" dirty="0"/>
          </a:p>
          <a:p>
            <a:pPr marL="0" indent="0">
              <a:buNone/>
            </a:pPr>
            <a:r>
              <a:rPr lang="en-IN" u="sng" dirty="0"/>
              <a:t>https://learn.microsoft.com/en-us/training/modules/introduction-power-bi/</a:t>
            </a:r>
            <a:endParaRPr lang="en-IN" dirty="0"/>
          </a:p>
          <a:p>
            <a:pPr marL="0" indent="0">
              <a:buNone/>
            </a:pPr>
            <a:r>
              <a:rPr lang="en-IN" sz="2200" dirty="0">
                <a:latin typeface="Franklin Gothic Book"/>
                <a:hlinkClick r:id="rId2"/>
              </a:rPr>
              <a:t>https://www.geeksforgeeks.org/power-bi/power-bi-tutorial/</a:t>
            </a:r>
            <a:endParaRPr lang="en-IN" sz="2200" dirty="0">
              <a:latin typeface="Franklin Gothic Book"/>
            </a:endParaRPr>
          </a:p>
          <a:p>
            <a:pPr marL="0" indent="0">
              <a:buNone/>
            </a:pPr>
            <a:r>
              <a:rPr lang="en-IN" sz="2200" b="1" dirty="0">
                <a:latin typeface="Franklin Gothic Book"/>
              </a:rPr>
              <a:t>GitHub Link:</a:t>
            </a:r>
            <a:r>
              <a:rPr lang="en-IN" sz="2200" dirty="0">
                <a:solidFill>
                  <a:srgbClr val="0070C0"/>
                </a:solidFill>
                <a:latin typeface="Franklin Gothic Book"/>
              </a:rPr>
              <a:t> </a:t>
            </a:r>
            <a:r>
              <a:rPr lang="en-IN" sz="2200" dirty="0">
                <a:latin typeface="Franklin Gothic Book"/>
                <a:hlinkClick r:id="rId3"/>
              </a:rPr>
              <a:t>Link</a:t>
            </a:r>
            <a:endParaRPr lang="en-IN" sz="2200" dirty="0">
              <a:latin typeface="Franklin Gothic Book"/>
            </a:endParaRPr>
          </a:p>
        </p:txBody>
      </p:sp>
      <p:pic>
        <p:nvPicPr>
          <p:cNvPr id="5" name="Picture 4">
            <a:extLst>
              <a:ext uri="{FF2B5EF4-FFF2-40B4-BE49-F238E27FC236}">
                <a16:creationId xmlns:a16="http://schemas.microsoft.com/office/drawing/2014/main" id="{9A4473B4-AF14-F5C4-1F7B-82087082D6DC}"/>
              </a:ext>
            </a:extLst>
          </p:cNvPr>
          <p:cNvPicPr>
            <a:picLocks noChangeAspect="1"/>
          </p:cNvPicPr>
          <p:nvPr/>
        </p:nvPicPr>
        <p:blipFill>
          <a:blip r:embed="rId4"/>
          <a:stretch>
            <a:fillRect/>
          </a:stretch>
        </p:blipFill>
        <p:spPr>
          <a:xfrm>
            <a:off x="950259" y="2949388"/>
            <a:ext cx="9959497" cy="3550024"/>
          </a:xfrm>
          <a:prstGeom prst="rect">
            <a:avLst/>
          </a:prstGeom>
        </p:spPr>
      </p:pic>
    </p:spTree>
    <p:extLst>
      <p:ext uri="{BB962C8B-B14F-4D97-AF65-F5344CB8AC3E}">
        <p14:creationId xmlns:p14="http://schemas.microsoft.com/office/powerpoint/2010/main" val="1691700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880</Words>
  <Application>Microsoft Office PowerPoint</Application>
  <PresentationFormat>Widescreen</PresentationFormat>
  <Paragraphs>81</Paragraphs>
  <Slides>11</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Aptos</vt:lpstr>
      <vt:lpstr>Arial</vt:lpstr>
      <vt:lpstr>Calibri</vt:lpstr>
      <vt:lpstr>Courier New</vt:lpstr>
      <vt:lpstr>Franklin Gothic Book</vt:lpstr>
      <vt:lpstr>Wingdings</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RISHIT GHOSH</cp:lastModifiedBy>
  <cp:revision>110</cp:revision>
  <dcterms:created xsi:type="dcterms:W3CDTF">2024-05-21T11:55:07Z</dcterms:created>
  <dcterms:modified xsi:type="dcterms:W3CDTF">2026-01-14T18:42:58Z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